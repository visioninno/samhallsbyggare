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3C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10515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Samhällsbyggarkartan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D9E6E7"/>
                </a:solidFill>
                <a:latin typeface="Segoe UI"/>
              </a:rPr>
              <a:t>Platskoll på 30 sekunder — en gratis karttjänst byggd helt på öppna svenska geodata.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A8C3C6"/>
                </a:solidFill>
                <a:latin typeface="Segoe UI"/>
              </a:rPr>
              <a:t>Inga konton. Inga API-nycklar. Ingen installation — bara en webbläsare.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26280"/>
            <a:ext cx="6766560" cy="566928"/>
          </a:xfrm>
          <a:prstGeom prst="roundRect">
            <a:avLst>
              <a:gd name="adj" fmla="val 35000"/>
            </a:avLst>
          </a:prstGeom>
          <a:solidFill>
            <a:srgbClr val="0E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1600" b="1">
                <a:solidFill>
                  <a:srgbClr val="FFFFFF"/>
                </a:solidFill>
                <a:latin typeface="Consolas"/>
              </a:rPr>
              <a:t>purple-bush-015972603.7.azurestaticapps.net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A8C3C6"/>
                </a:solidFill>
                <a:latin typeface="Segoe UI"/>
              </a:rPr>
              <a:t>Källor: MSB · SGU · Riksantikvarieämbetet · Naturvårdsverket · Länsstyrelserna · SCB · SMHI · OpenStreetMap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4661F"/>
                </a:solidFill>
                <a:latin typeface="Segoe UI"/>
              </a:rPr>
              <a:t>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14262C"/>
                </a:solidFill>
                <a:latin typeface="Georgia"/>
              </a:rPr>
              <a:t>Din första platsrapport — tre klick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E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4262C"/>
                </a:solidFill>
                <a:latin typeface="Segoe UI"/>
              </a:rPr>
              <a:t>Öppna kartverktyget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Gå till sajten och klicka på den orange knappen </a:t>
            </a:r>
            <a:r>
              <a:rPr sz="1300" b="1">
                <a:solidFill>
                  <a:srgbClr val="5A6B71"/>
                </a:solidFill>
                <a:latin typeface="Segoe UI"/>
              </a:rPr>
              <a:t>Öppna kartverktyget</a:t>
            </a:r>
            <a:r>
              <a:rPr sz="1300" b="0">
                <a:solidFill>
                  <a:srgbClr val="5A6B71"/>
                </a:solidFill>
                <a:latin typeface="Segoe UI"/>
              </a:rPr>
              <a:t> på startsidan.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18745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E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4262C"/>
                </a:solidFill>
                <a:latin typeface="Segoe UI"/>
              </a:rPr>
              <a:t>Välj plats — tre sätt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6324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A.  Skriv en adress i </a:t>
            </a:r>
            <a:r>
              <a:rPr sz="1300" b="1">
                <a:solidFill>
                  <a:srgbClr val="5A6B71"/>
                </a:solidFill>
                <a:latin typeface="Segoe UI"/>
              </a:rPr>
              <a:t>sökrutan högst upp</a:t>
            </a:r>
            <a:r>
              <a:rPr sz="1300" b="0">
                <a:solidFill>
                  <a:srgbClr val="5A6B71"/>
                </a:solidFill>
                <a:latin typeface="Segoe UI"/>
              </a:rPr>
              <a:t> och tryck </a:t>
            </a:r>
            <a:r>
              <a:rPr sz="1300" b="1">
                <a:solidFill>
                  <a:srgbClr val="B4661F"/>
                </a:solidFill>
                <a:latin typeface="Segoe UI"/>
              </a:rPr>
              <a:t>Enter</a:t>
            </a:r>
            <a:r>
              <a:rPr sz="1300" b="0">
                <a:solidFill>
                  <a:srgbClr val="5A6B71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B.  Klicka direkt </a:t>
            </a:r>
            <a:r>
              <a:rPr sz="1300" b="1">
                <a:solidFill>
                  <a:srgbClr val="5A6B71"/>
                </a:solidFill>
                <a:latin typeface="Segoe UI"/>
              </a:rPr>
              <a:t>var som helst i kartan</a:t>
            </a:r>
            <a:r>
              <a:rPr sz="1300" b="0">
                <a:solidFill>
                  <a:srgbClr val="5A6B71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C.  Klicka </a:t>
            </a:r>
            <a:r>
              <a:rPr sz="1300" b="1">
                <a:solidFill>
                  <a:srgbClr val="5A6B71"/>
                </a:solidFill>
                <a:latin typeface="Segoe UI"/>
              </a:rPr>
              <a:t>Min position</a:t>
            </a:r>
            <a:r>
              <a:rPr sz="1300" b="0">
                <a:solidFill>
                  <a:srgbClr val="5A6B71"/>
                </a:solidFill>
                <a:latin typeface="Segoe UI"/>
              </a:rPr>
              <a:t> uppe till höger (tillåt platsdelning).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61188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0" y="18745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E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5603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4262C"/>
                </a:solidFill>
                <a:latin typeface="Segoe UI"/>
              </a:rPr>
              <a:t>Läs rapporten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06324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Rapportpanelen öppnas till höger och fylls på medan källorna svarar.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Börja med de färgade chipsen överst — de är din snabböversikt.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92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Chipsens färger: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86460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E3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 wrap="none"/>
          <a:lstStyle/>
          <a:p>
            <a:pPr algn="ctr"/>
            <a:r>
              <a:rPr sz="1200" b="1">
                <a:solidFill>
                  <a:srgbClr val="276B44"/>
                </a:solidFill>
                <a:latin typeface="Segoe UI"/>
              </a:rPr>
              <a:t>● Skyddad natur: utanför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486460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7E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 wrap="none"/>
          <a:lstStyle/>
          <a:p>
            <a:pPr algn="ctr"/>
            <a:r>
              <a:rPr sz="1200" b="1">
                <a:solidFill>
                  <a:srgbClr val="8F6110"/>
                </a:solidFill>
                <a:latin typeface="Segoe UI"/>
              </a:rPr>
              <a:t>● Fornlämningar: 1 nära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4864608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F6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 wrap="none"/>
          <a:lstStyle/>
          <a:p>
            <a:pPr algn="ctr"/>
            <a:r>
              <a:rPr sz="1200" b="1">
                <a:solidFill>
                  <a:srgbClr val="B04234"/>
                </a:solidFill>
                <a:latin typeface="Segoe UI"/>
              </a:rPr>
              <a:t>● Kustöversvämning: träff vid +1,0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5000"/>
            </a:avLst>
          </a:prstGeom>
          <a:solidFill>
            <a:srgbClr val="E3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 tIns="101600"/>
          <a:lstStyle/>
          <a:p>
            <a:pPr algn="ctr"/>
            <a:r>
              <a:rPr sz="1300" b="1">
                <a:solidFill>
                  <a:srgbClr val="0E5B63"/>
                </a:solidFill>
                <a:latin typeface="Segoe UI"/>
              </a:rPr>
              <a:t>Prova direkt:  </a:t>
            </a:r>
            <a:r>
              <a:rPr sz="1300" b="0">
                <a:solidFill>
                  <a:srgbClr val="14262C"/>
                </a:solidFill>
                <a:latin typeface="Segoe UI"/>
              </a:rPr>
              <a:t>skriv </a:t>
            </a:r>
            <a:r>
              <a:rPr sz="1300" b="1">
                <a:solidFill>
                  <a:srgbClr val="14262C"/>
                </a:solidFill>
                <a:latin typeface="Segoe UI"/>
              </a:rPr>
              <a:t>Skeppsbron 1, Stockholm</a:t>
            </a:r>
            <a:r>
              <a:rPr sz="1300" b="0">
                <a:solidFill>
                  <a:srgbClr val="14262C"/>
                </a:solidFill>
                <a:latin typeface="Segoe UI"/>
              </a:rPr>
              <a:t> + Enter. Kajläget ger rött chip för kustöversvämning vid +1,0 m havsnivå — och ett fornlämningsfynd.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Samhällsbyggarkartan · öppna geodata utan nycklar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4661F"/>
                </a:solidFill>
                <a:latin typeface="Segoe UI"/>
              </a:rPr>
              <a:t>RAPPORTEN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14262C"/>
                </a:solidFill>
                <a:latin typeface="Georgia"/>
              </a:rPr>
              <a:t>Sju sektioner — vad de säger dig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7335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3677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Översvämningsrisk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385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MSB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45920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Träff/inte träff för 100-/200-årsflöde och kust vid vald havsnivå. Röd träff = utred dagvatten &amp; grundläggning tidigt.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9424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68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33172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Mark &amp; geologi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334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SGU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340864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Jordart, genomsläpplighet och berggrund på punkten. Lera + låg genomsläpplighet = signal om pålning och dagvattenmagasin.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266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Natur, miljö &amp; förorening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2841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NVV · LST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035808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Ligger punkten i naturreservat/vattenskyddsområde? Finns potentiellt förorenade områden (EBH) intill?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3931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581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2160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Kulturmiljö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023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RAÄ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730752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Forn- och kulturlämningar inom ~150 m. Lämningar har automatiskt lagskydd — kontakta länsstyrelsen tidigt.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33425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531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1655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Befolkning &amp; område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7183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425696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Hur många bor i km²-rutan, åldersfördelning, DeSO-område. Underlag för service- och marknadsresonemang.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292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4807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11149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Närhet &amp;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132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OSM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120640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Avstånd fågelvägen till hållplats, skola, förskola, vård, apotek, livsmedel, lekplats och laddstation inom 800 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24144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8430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14262C"/>
                </a:solidFill>
                <a:latin typeface="Segoe UI"/>
              </a:rPr>
              <a:t>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8064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4262C"/>
                </a:solidFill>
                <a:latin typeface="Segoe UI"/>
              </a:rPr>
              <a:t>Väder just nu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61081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SMHI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5815584"/>
            <a:ext cx="7223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Temperatur, vind och nederbörd för platsen — mest en bonus, men bra inför platsbesöket.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Samhällsbyggarkartan · öppna geodata utan nycklar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4661F"/>
                </a:solidFill>
                <a:latin typeface="Segoe UI"/>
              </a:rPr>
              <a:t>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14262C"/>
                </a:solidFill>
                <a:latin typeface="Georgia"/>
              </a:rPr>
              <a:t>Tänd kartlagren och se riskerna på kartan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64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19072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62C"/>
                </a:solidFill>
                <a:latin typeface="Segoe UI"/>
              </a:rPr>
              <a:t>Öppna lagerpanelen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709928"/>
            <a:ext cx="6720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Panelen ligger till vänster (på mobil: knappen “Lager” uppe till vänster). Lagren är grupperade: Översvämning &amp; risk, Mark &amp; geologi, Natur &amp; miljö, Kulturmiljö, Befolkning.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9192"/>
            <a:ext cx="11064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98064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62C"/>
                </a:solidFill>
                <a:latin typeface="Segoe UI"/>
              </a:rPr>
              <a:t>Bocka i ett lager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88920"/>
            <a:ext cx="6720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Klicka i kryssrutan, t.ex. “100-årsflöde”. Lagret ritas direkt över kartan, hämtat live från myndighetens server. Ett reglage dyker upp — dra det för att ändra genomskinlighet.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58184"/>
            <a:ext cx="11064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0050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877056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62C"/>
                </a:solidFill>
                <a:latin typeface="Segoe UI"/>
              </a:rPr>
              <a:t>Kustöversvämning: välj havsnivå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867912"/>
            <a:ext cx="6720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Under lagret Kustöversvämning finns en rullista: +0,5 m till +3,0 m. Byt nivå och se vattnet “stiga” på kartan. Nästa platsrapport använder samma nivå.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37176"/>
            <a:ext cx="1106424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50840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956048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4262C"/>
                </a:solidFill>
                <a:latin typeface="Segoe UI"/>
              </a:rPr>
              <a:t>Kombinera lager + rapport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946904"/>
            <a:ext cx="67208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A6B71"/>
                </a:solidFill>
                <a:latin typeface="Segoe UI"/>
              </a:rPr>
              <a:t>Tänd t.ex. Jordarter och klicka sedan på din tomt: kartbilden visar utbredningen, rapporten exakt vad som gäller på punkten. SGU- och SCB-lagren visar teckenförklaring i panelen.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Samhällsbyggarkartan · öppna geodata utan nycklar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B4661F"/>
                </a:solidFill>
                <a:latin typeface="Segoe UI"/>
              </a:rPr>
              <a:t>DELA &amp; TOLKA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14262C"/>
                </a:solidFill>
                <a:latin typeface="Georgia"/>
              </a:rPr>
              <a:t>Ta med rapporten till mötet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4262C"/>
                </a:solidFill>
                <a:latin typeface="Segoe UI"/>
              </a:rPr>
              <a:t>🔗  Kopiera länk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Knappen överst i rapporten kopierar en länk med exakt position. Skicka till en kollega — hen hamnar på samma punkt med samma rapport. Perfekt i mejl, Teams eller mötesanteckningar.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4262C"/>
                </a:solidFill>
                <a:latin typeface="Segoe UI"/>
              </a:rPr>
              <a:t>🖨  Skriv 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A6B71"/>
                </a:solidFill>
                <a:latin typeface="Segoe UI"/>
              </a:rPr>
              <a:t>Knappen bredvid ger en ren utskriftsvy av hela rapporten (utan karta och paneler) — eller spara som PDF via skrivardialogen. Disclaimern följer alltid med på utskriften.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11064240" cy="1783080"/>
          </a:xfrm>
          <a:prstGeom prst="roundRect">
            <a:avLst>
              <a:gd name="adj" fmla="val 8000"/>
            </a:avLst>
          </a:prstGeom>
          <a:solidFill>
            <a:srgbClr val="F6E8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B4661F"/>
                </a:solidFill>
                <a:latin typeface="Segoe UI"/>
              </a:rPr>
              <a:t>Att läsa rapporten rätt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62C"/>
                </a:solidFill>
                <a:latin typeface="Segoe UI"/>
              </a:rPr>
              <a:t>Rapporten är </a:t>
            </a:r>
            <a:r>
              <a:rPr sz="1300" b="1">
                <a:solidFill>
                  <a:srgbClr val="14262C"/>
                </a:solidFill>
                <a:latin typeface="Segoe UI"/>
              </a:rPr>
              <a:t>vägledande screening — inte beslutsunderlag. </a:t>
            </a:r>
            <a:r>
              <a:rPr sz="1300" b="0">
                <a:solidFill>
                  <a:srgbClr val="14262C"/>
                </a:solidFill>
                <a:latin typeface="Segoe UI"/>
              </a:rPr>
              <a:t>“Ingen känd träff” betyder inte att risk saknas (området kanske inte är karterat). En träff betyder att platsen förtjänar en riktig utredning — inte att den är obyggbar. Fastighetsgränser och officiella adresser kräver Lantmäteriet och ingår inte i v1.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Samhällsbyggarkartan · öppna geodata utan nycklar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1908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A6B71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