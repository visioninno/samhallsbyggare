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204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C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E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10515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4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Georgia"/>
              </a:rPr>
              <a:t>Samhällsbyggarkartan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7180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>
                <a:solidFill>
                  <a:srgbClr val="D9E6E7"/>
                </a:solidFill>
                <a:latin typeface="Segoe UI"/>
              </a:rPr>
              <a:t>Platskoll på 30 sekunder — en gratis karttjänst byggd helt på öppna svenska geodata.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033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A8C3C6"/>
                </a:solidFill>
                <a:latin typeface="Segoe UI"/>
              </a:rPr>
              <a:t>Inga konton. Inga API-nycklar. Ingen installation — bara en webbläsare.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526280"/>
            <a:ext cx="6766560" cy="566928"/>
          </a:xfrm>
          <a:prstGeom prst="roundRect">
            <a:avLst>
              <a:gd name="adj" fmla="val 35000"/>
            </a:avLst>
          </a:prstGeom>
          <a:solidFill>
            <a:srgbClr val="0E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77800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onsolas"/>
              </a:rPr>
              <a:t>purple-bush-015972603.7.azurestaticapps.net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25780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A8C3C6"/>
                </a:solidFill>
                <a:latin typeface="Segoe UI"/>
              </a:rPr>
              <a:t>Källor: MSB · SGU · Riksantikvarieämbetet · Naturvårdsverket · Länsstyrelserna · SCB · SMHI · OpenStreetMap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B4661F"/>
                </a:solidFill>
                <a:latin typeface="Segoe UI"/>
              </a:rPr>
              <a:t>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4262C"/>
                </a:solidFill>
                <a:latin typeface="Georgia"/>
              </a:rPr>
              <a:t>Din första platsrapport — tre klick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6118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E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4262C"/>
                </a:solidFill>
                <a:latin typeface="Segoe UI"/>
              </a:rPr>
              <a:t>Öppna kartverktyget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30632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A6B71"/>
                </a:solidFill>
                <a:latin typeface="Segoe UI"/>
              </a:rPr>
              <a:t>Gå till sajten och klicka på den orange knappen </a:t>
            </a:r>
            <a:r>
              <a:rPr sz="1300" b="1">
                <a:solidFill>
                  <a:srgbClr val="5A6B71"/>
                </a:solidFill>
                <a:latin typeface="Segoe UI"/>
              </a:rPr>
              <a:t>Öppna kartverktyget</a:t>
            </a:r>
            <a:r>
              <a:rPr sz="1300" b="0">
                <a:solidFill>
                  <a:srgbClr val="5A6B71"/>
                </a:solidFill>
                <a:latin typeface="Segoe UI"/>
              </a:rPr>
              <a:t> på startsidan.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00200"/>
            <a:ext cx="36118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617720" y="1874519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E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56032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4262C"/>
                </a:solidFill>
                <a:latin typeface="Segoe UI"/>
              </a:rPr>
              <a:t>Välj plats — tre sätt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063240"/>
            <a:ext cx="30632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A6B71"/>
                </a:solidFill>
                <a:latin typeface="Segoe UI"/>
              </a:rPr>
              <a:t>A.  Skriv en adress i </a:t>
            </a:r>
            <a:r>
              <a:rPr sz="1300" b="1">
                <a:solidFill>
                  <a:srgbClr val="5A6B71"/>
                </a:solidFill>
                <a:latin typeface="Segoe UI"/>
              </a:rPr>
              <a:t>sökrutan högst upp</a:t>
            </a:r>
            <a:r>
              <a:rPr sz="1300" b="0">
                <a:solidFill>
                  <a:srgbClr val="5A6B71"/>
                </a:solidFill>
                <a:latin typeface="Segoe UI"/>
              </a:rPr>
              <a:t> och tryck </a:t>
            </a:r>
            <a:r>
              <a:rPr sz="1300" b="1">
                <a:solidFill>
                  <a:srgbClr val="B4661F"/>
                </a:solidFill>
                <a:latin typeface="Segoe UI"/>
              </a:rPr>
              <a:t>Enter</a:t>
            </a:r>
            <a:r>
              <a:rPr sz="1300" b="0">
                <a:solidFill>
                  <a:srgbClr val="5A6B71"/>
                </a:solidFill>
                <a:latin typeface="Segoe UI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A6B71"/>
                </a:solidFill>
                <a:latin typeface="Segoe UI"/>
              </a:rPr>
              <a:t>B.  Klicka direkt </a:t>
            </a:r>
            <a:r>
              <a:rPr sz="1300" b="1">
                <a:solidFill>
                  <a:srgbClr val="5A6B71"/>
                </a:solidFill>
                <a:latin typeface="Segoe UI"/>
              </a:rPr>
              <a:t>var som helst i kartan</a:t>
            </a:r>
            <a:r>
              <a:rPr sz="1300" b="0">
                <a:solidFill>
                  <a:srgbClr val="5A6B71"/>
                </a:solidFill>
                <a:latin typeface="Segoe UI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A6B71"/>
                </a:solidFill>
                <a:latin typeface="Segoe UI"/>
              </a:rPr>
              <a:t>C.  Klicka </a:t>
            </a:r>
            <a:r>
              <a:rPr sz="1300" b="1">
                <a:solidFill>
                  <a:srgbClr val="5A6B71"/>
                </a:solidFill>
                <a:latin typeface="Segoe UI"/>
              </a:rPr>
              <a:t>Min position</a:t>
            </a:r>
            <a:r>
              <a:rPr sz="1300" b="0">
                <a:solidFill>
                  <a:srgbClr val="5A6B71"/>
                </a:solidFill>
                <a:latin typeface="Segoe UI"/>
              </a:rPr>
              <a:t> uppe till höger (tillåt platsdelning).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00200"/>
            <a:ext cx="36118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412480" y="1874519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E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56032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4262C"/>
                </a:solidFill>
                <a:latin typeface="Segoe UI"/>
              </a:rPr>
              <a:t>Läs rapporten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063240"/>
            <a:ext cx="30632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A6B71"/>
                </a:solidFill>
                <a:latin typeface="Segoe UI"/>
              </a:rPr>
              <a:t>Rapportpanelen öppnas till höger och fylls på medan källorna svarar. 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A6B71"/>
                </a:solidFill>
                <a:latin typeface="Segoe UI"/>
              </a:rPr>
              <a:t>Börja med de färgade chipsen överst — de är din snabböversikt.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920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4262C"/>
                </a:solidFill>
                <a:latin typeface="Segoe UI"/>
              </a:rPr>
              <a:t>Chipsens färger: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4864608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E3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0" rIns="76200" bIns="0" rtlCol="0" anchor="ctr"/>
          <a:lstStyle/>
          <a:p>
            <a:pPr algn="ctr"/>
            <a:r>
              <a:rPr sz="1200" b="1">
                <a:solidFill>
                  <a:srgbClr val="276B44"/>
                </a:solidFill>
                <a:latin typeface="Segoe UI"/>
              </a:rPr>
              <a:t>● Skyddad natur: utanför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0" y="4864608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7E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0" rIns="76200" bIns="0" rtlCol="0" anchor="ctr"/>
          <a:lstStyle/>
          <a:p>
            <a:pPr algn="ctr"/>
            <a:r>
              <a:rPr sz="1200" b="1">
                <a:solidFill>
                  <a:srgbClr val="8F6110"/>
                </a:solidFill>
                <a:latin typeface="Segoe UI"/>
              </a:rPr>
              <a:t>● Fornlämningar: 1 nära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864608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F6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0" rIns="76200" bIns="0" rtlCol="0" anchor="ctr"/>
          <a:lstStyle/>
          <a:p>
            <a:pPr algn="ctr"/>
            <a:r>
              <a:rPr sz="1200" b="1">
                <a:solidFill>
                  <a:srgbClr val="B04234"/>
                </a:solidFill>
                <a:latin typeface="Segoe UI"/>
              </a:rPr>
              <a:t>● Kustöversvämning: träff vid +1,0 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15000"/>
            </a:avLst>
          </a:prstGeom>
          <a:solidFill>
            <a:srgbClr val="E3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77800" tIns="101600" rtlCol="0" anchor="ctr"/>
          <a:lstStyle/>
          <a:p>
            <a:pPr algn="ctr"/>
            <a:r>
              <a:rPr sz="1300" b="1">
                <a:solidFill>
                  <a:srgbClr val="0E5B63"/>
                </a:solidFill>
                <a:latin typeface="Segoe UI"/>
              </a:rPr>
              <a:t>Prova direkt:  </a:t>
            </a:r>
            <a:r>
              <a:rPr sz="1300" b="0">
                <a:solidFill>
                  <a:srgbClr val="14262C"/>
                </a:solidFill>
                <a:latin typeface="Segoe UI"/>
              </a:rPr>
              <a:t>skriv </a:t>
            </a:r>
            <a:r>
              <a:rPr sz="1300" b="1">
                <a:solidFill>
                  <a:srgbClr val="14262C"/>
                </a:solidFill>
                <a:latin typeface="Segoe UI"/>
              </a:rPr>
              <a:t>Skeppsbron 1, Stockholm</a:t>
            </a:r>
            <a:r>
              <a:rPr sz="1300" b="0">
                <a:solidFill>
                  <a:srgbClr val="14262C"/>
                </a:solidFill>
                <a:latin typeface="Segoe UI"/>
              </a:rPr>
              <a:t> + Enter. Kajläget ger rött chip för kustöversvämning vid +1,0 m havsnivå — och ett fornlämningsfynd.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A6B71"/>
                </a:solidFill>
                <a:latin typeface="Segoe UI"/>
              </a:rPr>
              <a:t>Samhällsbyggarkartan · öppna geodata utan nycklar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1908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A6B71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B4661F"/>
                </a:solidFill>
                <a:latin typeface="Segoe UI"/>
              </a:rPr>
              <a:t>RAPPORTEN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4262C"/>
                </a:solidFill>
                <a:latin typeface="Georgia"/>
              </a:rPr>
              <a:t>Sju sektioner — vad de säger dig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733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14262C"/>
                </a:solidFill>
                <a:latin typeface="Segoe UI"/>
              </a:rPr>
              <a:t>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636776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4262C"/>
                </a:solidFill>
                <a:latin typeface="Segoe UI"/>
              </a:rPr>
              <a:t>Översvämningsrisk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938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A6B71"/>
                </a:solidFill>
                <a:latin typeface="Segoe UI"/>
              </a:rPr>
              <a:t>MSB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645920"/>
            <a:ext cx="72237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5A6B71"/>
                </a:solidFill>
                <a:latin typeface="Segoe UI"/>
              </a:rPr>
              <a:t>Träff/inte träff för 100-/200-årsflöde och kust vid vald havsnivå. Röd träff = utred dagvatten &amp; grundläggning tidigt.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49424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36829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14262C"/>
                </a:solidFill>
                <a:latin typeface="Segoe UI"/>
              </a:rPr>
              <a:t>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33172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4262C"/>
                </a:solidFill>
                <a:latin typeface="Segoe UI"/>
              </a:rPr>
              <a:t>Mark &amp; geologi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63347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A6B71"/>
                </a:solidFill>
                <a:latin typeface="Segoe UI"/>
              </a:rPr>
              <a:t>SGU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340864"/>
            <a:ext cx="72237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5A6B71"/>
                </a:solidFill>
                <a:latin typeface="Segoe UI"/>
              </a:rPr>
              <a:t>Jordart, genomsläpplighet och berggrund på punkten. Lera + låg genomsläpplighet = signal om pålning och dagvattenmagasin.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44368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0632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14262C"/>
                </a:solidFill>
                <a:latin typeface="Segoe UI"/>
              </a:rPr>
              <a:t>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026664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4262C"/>
                </a:solidFill>
                <a:latin typeface="Segoe UI"/>
              </a:rPr>
              <a:t>Natur, miljö &amp; förorening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32841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A6B71"/>
                </a:solidFill>
                <a:latin typeface="Segoe UI"/>
              </a:rPr>
              <a:t>NVV · LST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035808"/>
            <a:ext cx="72237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5A6B71"/>
                </a:solidFill>
                <a:latin typeface="Segoe UI"/>
              </a:rPr>
              <a:t>Ligger punkten i naturreservat/vattenskyddsområde? Finns potentiellt förorenade områden (EBH) intill?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39312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75818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14262C"/>
                </a:solidFill>
                <a:latin typeface="Segoe UI"/>
              </a:rPr>
              <a:t>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72160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4262C"/>
                </a:solidFill>
                <a:latin typeface="Segoe UI"/>
              </a:rPr>
              <a:t>Kulturmiljö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0233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A6B71"/>
                </a:solidFill>
                <a:latin typeface="Segoe UI"/>
              </a:rPr>
              <a:t>RAÄ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730752"/>
            <a:ext cx="72237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5A6B71"/>
                </a:solidFill>
                <a:latin typeface="Segoe UI"/>
              </a:rPr>
              <a:t>Forn- och kulturlämningar inom ~150 m. Lämningar har automatiskt lagskydd — kontakta länsstyrelsen tidigt.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334256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4531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14262C"/>
                </a:solidFill>
                <a:latin typeface="Segoe UI"/>
              </a:rPr>
              <a:t>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416552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4262C"/>
                </a:solidFill>
                <a:latin typeface="Segoe UI"/>
              </a:rPr>
              <a:t>Befolkning &amp; område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71830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A6B71"/>
                </a:solidFill>
                <a:latin typeface="Segoe UI"/>
              </a:rPr>
              <a:t>SCB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4425696"/>
            <a:ext cx="72237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5A6B71"/>
                </a:solidFill>
                <a:latin typeface="Segoe UI"/>
              </a:rPr>
              <a:t>Hur många bor i km²-rutan, åldersfördelning, DeSO-område. Underlag för service- och marknadsresonemang.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029200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51480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14262C"/>
                </a:solidFill>
                <a:latin typeface="Segoe UI"/>
              </a:rPr>
              <a:t>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111496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4262C"/>
                </a:solidFill>
                <a:latin typeface="Segoe UI"/>
              </a:rPr>
              <a:t>Närhet &amp; service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41324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A6B71"/>
                </a:solidFill>
                <a:latin typeface="Segoe UI"/>
              </a:rPr>
              <a:t>OSM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5120640"/>
            <a:ext cx="72237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5A6B71"/>
                </a:solidFill>
                <a:latin typeface="Segoe UI"/>
              </a:rPr>
              <a:t>Avstånd fågelvägen till hållplats, skola, förskola, vård, apotek, livsmedel, lekplats och laddstation inom 800 m.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724144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58430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14262C"/>
                </a:solidFill>
                <a:latin typeface="Segoe UI"/>
              </a:rPr>
              <a:t>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580644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4262C"/>
                </a:solidFill>
                <a:latin typeface="Segoe UI"/>
              </a:rPr>
              <a:t>Väder just nu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610819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A6B71"/>
                </a:solidFill>
                <a:latin typeface="Segoe UI"/>
              </a:rPr>
              <a:t>SMHI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0" y="5815584"/>
            <a:ext cx="72237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5A6B71"/>
                </a:solidFill>
                <a:latin typeface="Segoe UI"/>
              </a:rPr>
              <a:t>Temperatur, vind och nederbörd för platsen — mest en bonus, men bra inför platsbesöket.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A6B71"/>
                </a:solidFill>
                <a:latin typeface="Segoe UI"/>
              </a:rPr>
              <a:t>Samhällsbyggarkartan · öppna geodata utan nycklar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1908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A6B71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B4661F"/>
                </a:solidFill>
                <a:latin typeface="Segoe UI"/>
              </a:rPr>
              <a:t>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4262C"/>
                </a:solidFill>
                <a:latin typeface="Georgia"/>
              </a:rPr>
              <a:t>Tänd kartlagren och se riskerna på kartan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11064240" cy="9509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8470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4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19072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4262C"/>
                </a:solidFill>
                <a:latin typeface="Segoe UI"/>
              </a:rPr>
              <a:t>Öppna lagerpanelen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709928"/>
            <a:ext cx="672084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5A6B71"/>
                </a:solidFill>
                <a:latin typeface="Segoe UI"/>
              </a:rPr>
              <a:t>Panelen ligger till vänster (på mobil: knappen “Lager” uppe till vänster). Lagren är grupperade: Översvämning &amp; risk, Mark &amp; geologi, Natur &amp; miljö, Kulturmiljö, Befolkning.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79192"/>
            <a:ext cx="11064240" cy="9509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2926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4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98064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4262C"/>
                </a:solidFill>
                <a:latin typeface="Segoe UI"/>
              </a:rPr>
              <a:t>Bocka i ett lager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88920"/>
            <a:ext cx="672084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5A6B71"/>
                </a:solidFill>
                <a:latin typeface="Segoe UI"/>
              </a:rPr>
              <a:t>Klicka i kryssrutan, t.ex. “100-årsflöde”. Lagret ritas direkt över kartan, hämtat live från myndighetens server. Ett reglage dyker upp — dra det för att ändra genomskinlighet.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58184"/>
            <a:ext cx="11064240" cy="9509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77240" y="40050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4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877056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4262C"/>
                </a:solidFill>
                <a:latin typeface="Segoe UI"/>
              </a:rPr>
              <a:t>Kustöversvämning: välj havsnivå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867912"/>
            <a:ext cx="672084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5A6B71"/>
                </a:solidFill>
                <a:latin typeface="Segoe UI"/>
              </a:rPr>
              <a:t>Under lagret Kustöversvämning finns en rullista: +0,5 m till +3,0 m. Byt nivå och se vattnet “stiga” på kartan. Nästa platsrapport använder samma nivå.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37176"/>
            <a:ext cx="11064240" cy="9509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77240" y="50840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46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956048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4262C"/>
                </a:solidFill>
                <a:latin typeface="Segoe UI"/>
              </a:rPr>
              <a:t>Kombinera lager + rapport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946904"/>
            <a:ext cx="672084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5A6B71"/>
                </a:solidFill>
                <a:latin typeface="Segoe UI"/>
              </a:rPr>
              <a:t>Tänd t.ex. Jordarter och klicka sedan på din tomt: kartbilden visar utbredningen, rapporten exakt vad som gäller på punkten. SGU- och SCB-lagren visar teckenförklaring i panelen.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A6B71"/>
                </a:solidFill>
                <a:latin typeface="Segoe UI"/>
              </a:rPr>
              <a:t>Samhällsbyggarkartan · öppna geodata utan nycklar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1908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A6B71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B4661F"/>
                </a:solidFill>
                <a:latin typeface="Segoe UI"/>
              </a:rPr>
              <a:t>DELA &amp; TOLKA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4262C"/>
                </a:solidFill>
                <a:latin typeface="Georgia"/>
              </a:rPr>
              <a:t>Ta med rapporten till mötet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949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4262C"/>
                </a:solidFill>
                <a:latin typeface="Segoe UI"/>
              </a:rPr>
              <a:t>🔗  Kopiera länk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48463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5A6B71"/>
                </a:solidFill>
                <a:latin typeface="Segoe UI"/>
              </a:rPr>
              <a:t>Knappen överst i rapporten kopierar en länk med exakt position. Skicka till en kollega — hen hamnar på samma punkt med samma rapport. Perfekt i mejl, Teams eller mötesanteckningar.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3949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4262C"/>
                </a:solidFill>
                <a:latin typeface="Segoe UI"/>
              </a:rPr>
              <a:t>🖨  Skriv 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8463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5A6B71"/>
                </a:solidFill>
                <a:latin typeface="Segoe UI"/>
              </a:rPr>
              <a:t>Knappen bredvid ger en ren utskriftsvy av hela rapporten (utan karta och paneler) — eller spara som PDF via skrivardialogen. Disclaimern följer alltid med på utskriften.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51960"/>
            <a:ext cx="11064240" cy="1783080"/>
          </a:xfrm>
          <a:prstGeom prst="roundRect">
            <a:avLst>
              <a:gd name="adj" fmla="val 8000"/>
            </a:avLst>
          </a:prstGeom>
          <a:solidFill>
            <a:srgbClr val="F6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43484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B4661F"/>
                </a:solidFill>
                <a:latin typeface="Segoe UI"/>
              </a:rPr>
              <a:t>Att läsa rapporten rätt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4632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62C"/>
                </a:solidFill>
                <a:latin typeface="Segoe UI"/>
              </a:rPr>
              <a:t>Rapporten är </a:t>
            </a:r>
            <a:r>
              <a:rPr sz="1300" b="1">
                <a:solidFill>
                  <a:srgbClr val="14262C"/>
                </a:solidFill>
                <a:latin typeface="Segoe UI"/>
              </a:rPr>
              <a:t>vägledande screening — inte beslutsunderlag. </a:t>
            </a:r>
            <a:r>
              <a:rPr sz="1300" b="0">
                <a:solidFill>
                  <a:srgbClr val="14262C"/>
                </a:solidFill>
                <a:latin typeface="Segoe UI"/>
              </a:rPr>
              <a:t>“Ingen känd träff” betyder inte att risk saknas (området kanske inte är karterat). En träff betyder att platsen förtjänar en riktig utredning — inte att den är obyggbar. Fastighetsgränser och officiella adresser kräver Lantmäteriet och ingår inte i v1.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A6B71"/>
                </a:solidFill>
                <a:latin typeface="Segoe UI"/>
              </a:rPr>
              <a:t>Samhällsbyggarkartan · öppna geodata utan nycklar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1908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A6B71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08e8b0a9-d31e-4c01-8478-c339e5863530}" enabled="1" method="Standard" siteId="{36e1a4fe-f9b7-4356-a5c4-5d6b2e8578b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687</Words>
  <Application>Microsoft Office PowerPoint</Application>
  <PresentationFormat>Bredbild</PresentationFormat>
  <Paragraphs>84</Paragraphs>
  <Slides>5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5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5</vt:i4>
      </vt:variant>
    </vt:vector>
  </HeadingPairs>
  <TitlesOfParts>
    <vt:vector size="11" baseType="lpstr">
      <vt:lpstr>Arial</vt:lpstr>
      <vt:lpstr>Calibri</vt:lpstr>
      <vt:lpstr>Consolas</vt:lpstr>
      <vt:lpstr>Georgia</vt:lpstr>
      <vt:lpstr>Segoe UI</vt:lpstr>
      <vt:lpstr>Office Theme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Mattias Ejbe</cp:lastModifiedBy>
  <cp:revision>1</cp:revision>
  <dcterms:created xsi:type="dcterms:W3CDTF">2013-01-27T09:14:16Z</dcterms:created>
  <dcterms:modified xsi:type="dcterms:W3CDTF">2026-07-06T17:05:00Z</dcterms:modified>
  <cp:category/>
</cp:coreProperties>
</file>